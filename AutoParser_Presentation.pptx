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282C34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 lIns="731520"/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🚗 AutoParser</a:t>
            </a:r>
          </a:p>
          <a:p>
            <a:pPr>
              <a:defRPr sz="2000">
                <a:solidFill>
                  <a:srgbClr val="2F80ED"/>
                </a:solidFill>
              </a:defRPr>
            </a:pPr>
            <a:r>
              <a:t>Автономная система сбора и анализа данных автомобильных площадок и аукционов</a:t>
            </a:r>
          </a:p>
          <a:p>
            <a:br/>
            <a:pPr>
              <a:defRPr sz="1500">
                <a:solidFill>
                  <a:srgbClr val="AAB2C0"/>
                </a:solidFill>
              </a:defRPr>
            </a:pPr>
            <a:r>
              <a:t>• Автоматический поиск и фильтрация объявлений (ОАЭ, Европа, США, Корея, Китай)</a:t>
            </a:r>
            <a:br/>
            <a:r>
              <a:t>• Встроенный интерактивный интерфейс (GUI) без необходимости сторонних СУБД</a:t>
            </a:r>
            <a:br/>
            <a:r>
              <a:t>• Быстрый экспорт результатов в Excel, CSV и JSON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0F2F5"/>
                </a:solidFill>
              </a:defRPr>
            </a:pPr>
            <a:r>
              <a:t>1. Главный экран приложения (GUI)</a:t>
            </a:r>
          </a:p>
          <a:p>
            <a:pPr>
              <a:defRPr sz="1400">
                <a:solidFill>
                  <a:srgbClr val="AAB2C0"/>
                </a:solidFill>
              </a:defRPr>
            </a:pPr>
            <a:r>
              <a:t>Удобное десктопное приложение на базе CustomTkinter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t>💡 Ключевые элементы:</a:t>
            </a:r>
          </a:p>
          <a:p>
            <a:pPr>
              <a:defRPr sz="1400" b="1">
                <a:solidFill>
                  <a:srgbClr val="F0F2F5"/>
                </a:solidFill>
              </a:defRPr>
            </a:pPr>
            <a:r>
              <a:t>• Современный Dark Theme</a:t>
            </a:r>
          </a:p>
          <a:p>
            <a:pPr>
              <a:defRPr sz="1200">
                <a:solidFill>
                  <a:srgbClr val="AAB2C0"/>
                </a:solidFill>
              </a:defRPr>
            </a:pPr>
            <a:r>
              <a:t>  Эргономичный тёмный интерфейс, адаптированный под macOS и Windows.</a:t>
            </a:r>
          </a:p>
          <a:p>
            <a:pPr>
              <a:defRPr sz="1400" b="1">
                <a:solidFill>
                  <a:srgbClr val="F0F2F5"/>
                </a:solidFill>
              </a:defRPr>
            </a:pPr>
            <a:r>
              <a:t>• Автономная работа</a:t>
            </a:r>
          </a:p>
          <a:p>
            <a:pPr>
              <a:defRPr sz="1200">
                <a:solidFill>
                  <a:srgbClr val="AAB2C0"/>
                </a:solidFill>
              </a:defRPr>
            </a:pPr>
            <a:r>
              <a:t>  Не требует настройки базы данных PostgreSQL — работает из коробки.</a:t>
            </a:r>
          </a:p>
          <a:p>
            <a:pPr>
              <a:defRPr sz="1400" b="1">
                <a:solidFill>
                  <a:srgbClr val="F0F2F5"/>
                </a:solidFill>
              </a:defRPr>
            </a:pPr>
            <a:r>
              <a:t>• Управление в 1 клик</a:t>
            </a:r>
          </a:p>
          <a:p>
            <a:pPr>
              <a:defRPr sz="1200">
                <a:solidFill>
                  <a:srgbClr val="AAB2C0"/>
                </a:solidFill>
              </a:defRPr>
            </a:pPr>
            <a:r>
              <a:t>  Быстрый запуск поиска, выбор параметров и открытие готовых файлов.</a:t>
            </a:r>
          </a:p>
          <a:p>
            <a:pPr>
              <a:defRPr sz="1400" b="1">
                <a:solidFill>
                  <a:srgbClr val="F0F2F5"/>
                </a:solidFill>
              </a:defRPr>
            </a:pPr>
            <a:r>
              <a:t>• Журнал событий (Logs)</a:t>
            </a:r>
          </a:p>
          <a:p>
            <a:pPr>
              <a:defRPr sz="1200">
                <a:solidFill>
                  <a:srgbClr val="AAB2C0"/>
                </a:solidFill>
              </a:defRPr>
            </a:pPr>
            <a:r>
              <a:t>  Отображение хода выполнения парсинга в реальном времени.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1371600"/>
            <a:ext cx="6309360" cy="4846320"/>
          </a:xfrm>
          <a:prstGeom prst="roundRect">
            <a:avLst/>
          </a:prstGeom>
          <a:solidFill>
            <a:srgbClr val="181B20"/>
          </a:solidFill>
          <a:ln w="254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AAB2C0"/>
                </a:solidFill>
              </a:defRPr>
            </a:pPr>
            <a:r>
              <a:t>📷 Главное окно приложения</a:t>
            </a:r>
            <a:br/>
            <a:r>
              <a:t>(Вставьте скриншот сюда)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0F2F5"/>
                </a:solidFill>
              </a:defRPr>
            </a:pPr>
            <a:r>
              <a:t>2. Настройка поиска и фильтрация</a:t>
            </a:r>
          </a:p>
          <a:p>
            <a:pPr>
              <a:defRPr sz="1400">
                <a:solidFill>
                  <a:srgbClr val="AAB2C0"/>
                </a:solidFill>
              </a:defRPr>
            </a:pPr>
            <a:r>
              <a:t>Точный подбор автомобилей по марке, моделям и годам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6309360" cy="4846320"/>
          </a:xfrm>
          <a:prstGeom prst="roundRect">
            <a:avLst/>
          </a:prstGeom>
          <a:solidFill>
            <a:srgbClr val="181B20"/>
          </a:solidFill>
          <a:ln w="254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AAB2C0"/>
                </a:solidFill>
              </a:defRPr>
            </a:pPr>
            <a:r>
              <a:t>📷 Панель фильтров поиска</a:t>
            </a:r>
            <a:br/>
            <a:r>
              <a:t>(Вставьте скриншот сюда)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37160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F80ED"/>
                </a:solidFill>
              </a:defRPr>
            </a:pPr>
            <a:r>
              <a:t>🎯 Параметры поиска:</a:t>
            </a:r>
          </a:p>
          <a:p>
            <a:pPr>
              <a:defRPr sz="1400" b="1">
                <a:solidFill>
                  <a:srgbClr val="F0F2F5"/>
                </a:solidFill>
              </a:defRPr>
            </a:pPr>
            <a:r>
              <a:t>• Марка / Модель</a:t>
            </a:r>
          </a:p>
          <a:p>
            <a:pPr>
              <a:defRPr sz="1200">
                <a:solidFill>
                  <a:srgbClr val="AAB2C0"/>
                </a:solidFill>
              </a:defRPr>
            </a:pPr>
            <a:r>
              <a:t>  Поиск конкретных моделей (например: Mitsubishi Outlander, Toyota Land Cruiser).</a:t>
            </a:r>
          </a:p>
          <a:p>
            <a:pPr>
              <a:defRPr sz="1400" b="1">
                <a:solidFill>
                  <a:srgbClr val="F0F2F5"/>
                </a:solidFill>
              </a:defRPr>
            </a:pPr>
            <a:r>
              <a:t>• Диапазон лет</a:t>
            </a:r>
          </a:p>
          <a:p>
            <a:pPr>
              <a:defRPr sz="1200">
                <a:solidFill>
                  <a:srgbClr val="AAB2C0"/>
                </a:solidFill>
              </a:defRPr>
            </a:pPr>
            <a:r>
              <a:t>  Фильтрация по годам выпуска (например: 2022–2026 гг.).</a:t>
            </a:r>
          </a:p>
          <a:p>
            <a:pPr>
              <a:defRPr sz="1400" b="1">
                <a:solidFill>
                  <a:srgbClr val="F0F2F5"/>
                </a:solidFill>
              </a:defRPr>
            </a:pPr>
            <a:r>
              <a:t>• Лимит страниц</a:t>
            </a:r>
          </a:p>
          <a:p>
            <a:pPr>
              <a:defRPr sz="1200">
                <a:solidFill>
                  <a:srgbClr val="AAB2C0"/>
                </a:solidFill>
              </a:defRPr>
            </a:pPr>
            <a:r>
              <a:t>  Указание глубины сканирования (1, 3, 5+ страниц).</a:t>
            </a:r>
          </a:p>
          <a:p>
            <a:pPr>
              <a:defRPr sz="1400" b="1">
                <a:solidFill>
                  <a:srgbClr val="F0F2F5"/>
                </a:solidFill>
              </a:defRPr>
            </a:pPr>
            <a:r>
              <a:t>• Headless режим</a:t>
            </a:r>
          </a:p>
          <a:p>
            <a:pPr>
              <a:defRPr sz="1200">
                <a:solidFill>
                  <a:srgbClr val="AAB2C0"/>
                </a:solidFill>
              </a:defRPr>
            </a:pPr>
            <a:r>
              <a:t>  Запуск браузера в фоновом режиме без отображения окон.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0F2F5"/>
                </a:solidFill>
              </a:defRPr>
            </a:pPr>
            <a:r>
              <a:t>3. Интерактивные результаты</a:t>
            </a:r>
          </a:p>
          <a:p>
            <a:pPr>
              <a:defRPr sz="1400">
                <a:solidFill>
                  <a:srgbClr val="AAB2C0"/>
                </a:solidFill>
              </a:defRPr>
            </a:pPr>
            <a:r>
              <a:t>Мгновенный просмотр собранных данных и экспорт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t>📊 Возможности таблицы:</a:t>
            </a:r>
          </a:p>
          <a:p>
            <a:pPr>
              <a:defRPr sz="1400" b="1">
                <a:solidFill>
                  <a:srgbClr val="F0F2F5"/>
                </a:solidFill>
              </a:defRPr>
            </a:pPr>
            <a:r>
              <a:t>• 19 колонок данных</a:t>
            </a:r>
          </a:p>
          <a:p>
            <a:pPr>
              <a:defRPr sz="1200">
                <a:solidFill>
                  <a:srgbClr val="AAB2C0"/>
                </a:solidFill>
              </a:defRPr>
            </a:pPr>
            <a:r>
              <a:t>  Марка, модель, цена в AED, пробег, год, топливо, КПП, город.</a:t>
            </a:r>
          </a:p>
          <a:p>
            <a:pPr>
              <a:defRPr sz="1400" b="1">
                <a:solidFill>
                  <a:srgbClr val="F0F2F5"/>
                </a:solidFill>
              </a:defRPr>
            </a:pPr>
            <a:r>
              <a:t>• Двойной клик</a:t>
            </a:r>
          </a:p>
          <a:p>
            <a:pPr>
              <a:defRPr sz="1200">
                <a:solidFill>
                  <a:srgbClr val="AAB2C0"/>
                </a:solidFill>
              </a:defRPr>
            </a:pPr>
            <a:r>
              <a:t>  Быстрый переход на страницу объявления в браузере по двойному клику.</a:t>
            </a:r>
          </a:p>
          <a:p>
            <a:pPr>
              <a:defRPr sz="1400" b="1">
                <a:solidFill>
                  <a:srgbClr val="F0F2F5"/>
                </a:solidFill>
              </a:defRPr>
            </a:pPr>
            <a:r>
              <a:t>• Экспорт в Excel / CSV</a:t>
            </a:r>
          </a:p>
          <a:p>
            <a:pPr>
              <a:defRPr sz="1200">
                <a:solidFill>
                  <a:srgbClr val="AAB2C0"/>
                </a:solidFill>
              </a:defRPr>
            </a:pPr>
            <a:r>
              <a:t>  Сохранение структурированных отчётов в 1 клик.</a:t>
            </a:r>
          </a:p>
          <a:p>
            <a:pPr>
              <a:defRPr sz="1400" b="1">
                <a:solidFill>
                  <a:srgbClr val="F0F2F5"/>
                </a:solidFill>
              </a:defRPr>
            </a:pPr>
            <a:r>
              <a:t>• Сводная статистика</a:t>
            </a:r>
          </a:p>
          <a:p>
            <a:pPr>
              <a:defRPr sz="1200">
                <a:solidFill>
                  <a:srgbClr val="AAB2C0"/>
                </a:solidFill>
              </a:defRPr>
            </a:pPr>
            <a:r>
              <a:t>  Отображение общего количества найденных вариантов.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1371600"/>
            <a:ext cx="6309360" cy="4846320"/>
          </a:xfrm>
          <a:prstGeom prst="roundRect">
            <a:avLst/>
          </a:prstGeom>
          <a:solidFill>
            <a:srgbClr val="181B20"/>
          </a:solidFill>
          <a:ln w="254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AAB2C0"/>
                </a:solidFill>
              </a:defRPr>
            </a:pPr>
            <a:r>
              <a:t>📷 Таблица результатов поиска</a:t>
            </a:r>
            <a:br/>
            <a:r>
              <a:t>(Вставьте скриншот сюда)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0F2F5"/>
                </a:solidFill>
              </a:defRPr>
            </a:pPr>
            <a:r>
              <a:t>4. Архитектура и поддерживаемые площадки</a:t>
            </a:r>
          </a:p>
          <a:p>
            <a:pPr>
              <a:defRPr sz="1400">
                <a:solidFill>
                  <a:srgbClr val="AAB2C0"/>
                </a:solidFill>
              </a:defRPr>
            </a:pPr>
            <a:r>
              <a:t>Модульная структура для масштабирования на другие рынки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282C34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F0F2F5"/>
                </a:solidFill>
              </a:defRPr>
            </a:pPr>
            <a:r>
              <a:t>🇦🇪 DubiCars (ОАЭ)</a:t>
            </a:r>
          </a:p>
          <a:p>
            <a:br/>
            <a:pPr>
              <a:defRPr sz="1300">
                <a:solidFill>
                  <a:srgbClr val="AAB2C0"/>
                </a:solidFill>
              </a:defRPr>
            </a:pPr>
            <a:r>
              <a:t>Парсинг цен в AED, спецификаций и дилеров. Активен и полностью протестирован.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282C34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F0F2F5"/>
                </a:solidFill>
              </a:defRPr>
            </a:pPr>
            <a:r>
              <a:t>🇪🇺 AutoScout24 (Европа)</a:t>
            </a:r>
          </a:p>
          <a:p>
            <a:br/>
            <a:pPr>
              <a:defRPr sz="1300">
                <a:solidFill>
                  <a:srgbClr val="AAB2C0"/>
                </a:solidFill>
              </a:defRPr>
            </a:pPr>
            <a:r>
              <a:t>Поддержка фильтрации по странам (Германия, Франция, Италия, Нидерланды).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282C34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F0F2F5"/>
                </a:solidFill>
              </a:defRPr>
            </a:pPr>
            <a:r>
              <a:t>🇺🇸 BidCars (США)</a:t>
            </a:r>
          </a:p>
          <a:p>
            <a:br/>
            <a:pPr>
              <a:defRPr sz="1300">
                <a:solidFill>
                  <a:srgbClr val="AAB2C0"/>
                </a:solidFill>
              </a:defRPr>
            </a:pPr>
            <a:r>
              <a:t>Парсинг лотов автоаукционов, конвертация миль в км, извлечение VIN.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282C34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F0F2F5"/>
                </a:solidFill>
              </a:defRPr>
            </a:pPr>
            <a:r>
              <a:t>🇨🇳 Che168 &amp; Autohome (Китай)</a:t>
            </a:r>
          </a:p>
          <a:p>
            <a:br/>
            <a:pPr>
              <a:defRPr sz="1300">
                <a:solidFill>
                  <a:srgbClr val="AAB2C0"/>
                </a:solidFill>
              </a:defRPr>
            </a:pPr>
            <a:r>
              <a:t>Поддержка дешифровки кастомных WebFont шрифтов (fontTools) для цен.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0F2F5"/>
                </a:solidFill>
              </a:defRPr>
            </a:pPr>
            <a:r>
              <a:t>5. Заключение и дальнейшие шаги</a:t>
            </a:r>
          </a:p>
          <a:p>
            <a:pPr>
              <a:defRPr sz="1400">
                <a:solidFill>
                  <a:srgbClr val="AAB2C0"/>
                </a:solidFill>
              </a:defRPr>
            </a:pPr>
            <a:r>
              <a:t>Готово к практическому использованию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663440"/>
          </a:xfrm>
          <a:prstGeom prst="roundRect">
            <a:avLst/>
          </a:prstGeom>
          <a:solidFill>
            <a:srgbClr val="282C34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 lIns="548640"/>
          <a:lstStyle/>
          <a:p>
            <a:pPr algn="ctr">
              <a:defRPr sz="2000" b="1">
                <a:solidFill>
                  <a:srgbClr val="27AE60"/>
                </a:solidFill>
              </a:defRPr>
            </a:pPr>
            <a:r>
              <a:t>✅ Текущий статус проекта:</a:t>
            </a:r>
          </a:p>
          <a:p>
            <a:pPr>
              <a:defRPr sz="1400">
                <a:solidFill>
                  <a:srgbClr val="F0F2F5"/>
                </a:solidFill>
              </a:defRPr>
            </a:pPr>
            <a:r>
              <a:t>• Полностью рабочий парсер DubiCars с графическим интерфейсом.</a:t>
            </a:r>
            <a:br/>
            <a:r>
              <a:t>• Проверено извлечение данных по реальным запросам (Mitsubishi Outlander 2022-2026).</a:t>
            </a:r>
            <a:br/>
            <a:r>
              <a:t>• Весь код загружен в GitHub репозиторий.</a:t>
            </a:r>
            <a:br/>
          </a:p>
          <a:p>
            <a:pPr>
              <a:defRPr sz="2000" b="1">
                <a:solidFill>
                  <a:srgbClr val="2F80ED"/>
                </a:solidFill>
              </a:defRPr>
            </a:pPr>
            <a:r>
              <a:t>🚀 План развития:</a:t>
            </a:r>
          </a:p>
          <a:p>
            <a:pPr>
              <a:defRPr sz="1400">
                <a:solidFill>
                  <a:srgbClr val="AAB2C0"/>
                </a:solidFill>
              </a:defRPr>
            </a:pPr>
            <a:r>
              <a:t>• Подключение отображения остальных 5 площадок в едином GUI интерфейсе.</a:t>
            </a:r>
            <a:br/>
            <a:r>
              <a:t>• Добавление графиков аналитики цен по годам и пробегу.</a:t>
            </a:r>
            <a:br/>
            <a:r>
              <a:t>• Автоматическое уведомление в Telegram о появлении выгодных объявлений.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